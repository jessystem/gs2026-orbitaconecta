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2" r:id="rId9"/>
    <p:sldId id="263" r:id="rId10"/>
    <p:sldId id="264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5C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8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80241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613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4947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200400" cy="3200400"/>
          </a:xfrm>
          <a:prstGeom prst="ellipse">
            <a:avLst/>
          </a:prstGeom>
          <a:solidFill>
            <a:srgbClr val="4CA1DE">
              <a:alpha val="18000"/>
            </a:srgbClr>
          </a:solidFill>
          <a:ln w="19050">
            <a:solidFill>
              <a:srgbClr val="4CA1D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046720" y="-182880"/>
            <a:ext cx="1463040" cy="1463040"/>
          </a:xfrm>
          <a:prstGeom prst="ellipse">
            <a:avLst/>
          </a:prstGeom>
          <a:solidFill>
            <a:srgbClr val="2ECC9A">
              <a:alpha val="30000"/>
            </a:srgbClr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17320"/>
            <a:ext cx="1005840" cy="4572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· GS · FIAP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OrbitaConecta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548640" y="260604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Digital com Inteligência Artificial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Dados Satelitais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566160"/>
            <a:ext cx="8046720" cy="13716"/>
          </a:xfrm>
          <a:prstGeom prst="rect">
            <a:avLst/>
          </a:prstGeom>
          <a:solidFill>
            <a:srgbClr val="4CA1DE">
              <a:alpha val="50000"/>
            </a:srgbClr>
          </a:solidFill>
          <a:ln w="1270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3703320"/>
            <a:ext cx="36095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ALEXANDRE CAMPOS – RM </a:t>
            </a:r>
            <a:r>
              <a:rPr lang="pt-BR" sz="1000" b="1" kern="0" spc="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562131</a:t>
            </a:r>
          </a:p>
          <a:p>
            <a:pPr marL="0" indent="0">
              <a:buNone/>
            </a:pPr>
            <a:r>
              <a:rPr lang="en-US" sz="1000" b="1" kern="0" spc="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ALINE FORMIGA – RM </a:t>
            </a:r>
            <a:r>
              <a:rPr lang="pt-BR" sz="1000" b="1" kern="0" spc="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565322</a:t>
            </a:r>
            <a:endParaRPr lang="en-US" sz="1000" b="1" kern="0" spc="100" dirty="0">
              <a:solidFill>
                <a:srgbClr val="8FA8C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000" b="1" kern="0" spc="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JÉSSICA GAMBÔA- </a:t>
            </a:r>
            <a:r>
              <a:rPr lang="pt-BR" sz="1000" b="1" kern="0" spc="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564528  </a:t>
            </a:r>
            <a:endParaRPr lang="en-US" sz="1000" b="1" kern="0" spc="100" dirty="0">
              <a:solidFill>
                <a:srgbClr val="8FA8C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48640" y="400507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  ·  ___________________________  ·  ___________________________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Curso: Data Science  ·  Global Solution  ·  FIAP 2026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60920" y="3666744"/>
            <a:ext cx="822960" cy="347472"/>
          </a:xfrm>
          <a:prstGeom prst="ellipse">
            <a:avLst/>
          </a:prstGeom>
          <a:solidFill>
            <a:srgbClr val="4CA1DE">
              <a:alpha val="0"/>
            </a:srgbClr>
          </a:solidFill>
          <a:ln w="10160">
            <a:solidFill>
              <a:srgbClr val="4CA1DE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07224" y="3730752"/>
            <a:ext cx="530352" cy="219456"/>
          </a:xfrm>
          <a:prstGeom prst="ellipse">
            <a:avLst/>
          </a:prstGeom>
          <a:solidFill>
            <a:srgbClr val="4CA1DE">
              <a:alpha val="0"/>
            </a:srgbClr>
          </a:solidFill>
          <a:ln w="10160">
            <a:solidFill>
              <a:srgbClr val="4CA1DE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44384" y="3785616"/>
            <a:ext cx="256032" cy="109728"/>
          </a:xfrm>
          <a:prstGeom prst="ellipse">
            <a:avLst/>
          </a:prstGeom>
          <a:solidFill>
            <a:srgbClr val="4CA1DE">
              <a:alpha val="0"/>
            </a:srgbClr>
          </a:solidFill>
          <a:ln w="10160">
            <a:solidFill>
              <a:srgbClr val="4CA1DE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01584" y="3785616"/>
            <a:ext cx="91440" cy="91440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INTRODUÇÃO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da Exclusão Digital no Brasil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325880"/>
            <a:ext cx="64008" cy="96012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3716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 M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76072" y="1773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brasileiros sem internet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76072" y="20299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 Domicílios 2023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325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25880"/>
            <a:ext cx="64008" cy="96012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02152" y="13716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+1.500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502152" y="1773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sem 4G adequado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02152" y="20299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Anatel 2024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263640" y="132588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63640" y="1325880"/>
            <a:ext cx="64008" cy="96012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28232" y="1371600"/>
            <a:ext cx="2377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 bi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428232" y="1773936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FUST sem priorização/ano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28232" y="20299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MCOM 2024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248716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da Exclusão Digital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11480" y="288036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2880360"/>
            <a:ext cx="2029968" cy="5486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29718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21208" y="3310128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Estudantes sem EaD, portais MEC e ferramentas digitais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606040" y="288036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606040" y="2880360"/>
            <a:ext cx="2029968" cy="54864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15768" y="29718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Saúde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715768" y="3310128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Telemedicina e apps do SUS inacessíveis em regiões remotas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800600" y="288036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2880360"/>
            <a:ext cx="2029968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10328" y="29718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3310128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Agricultores sem acesso a mercados, Pronaf e comércio digital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6995160" y="2880360"/>
            <a:ext cx="2029968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995160" y="2880360"/>
            <a:ext cx="2029968" cy="54864"/>
          </a:xfrm>
          <a:prstGeom prst="rect">
            <a:avLst/>
          </a:prstGeom>
          <a:solidFill>
            <a:srgbClr val="B48EF5"/>
          </a:solidFill>
          <a:ln w="12700">
            <a:solidFill>
              <a:srgbClr val="B48EF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04888" y="2971800"/>
            <a:ext cx="1828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48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Cidadania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104888" y="3310128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gov.br, INSS digital e vacinação eletrônica fora do alcance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502920" y="482803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Fontes: TIC Domicílios 2023 · Anatel 2024 · MCOM 2024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2926080"/>
            <a:ext cx="2743200" cy="2743200"/>
          </a:xfrm>
          <a:prstGeom prst="ellipse">
            <a:avLst/>
          </a:prstGeom>
          <a:solidFill>
            <a:srgbClr val="E05C5C">
              <a:alpha val="12000"/>
            </a:srgbClr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 PROBLEMA CENTRAL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 Conectividade Rural Falha?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4069080" cy="1554480"/>
          </a:xfrm>
          <a:prstGeom prst="rect">
            <a:avLst/>
          </a:prstGeom>
          <a:solidFill>
            <a:srgbClr val="1B2B40"/>
          </a:solidFill>
          <a:ln w="15240">
            <a:solidFill>
              <a:srgbClr val="E05C5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54864" cy="1554480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17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Dispersão Geográfica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" y="17830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Comunidades rurais ocupam mais de 85% do território nacional. O mapeamento manual de necessidades é lento, caro e ineficiente.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325880"/>
            <a:ext cx="4069080" cy="1554480"/>
          </a:xfrm>
          <a:prstGeom prst="rect">
            <a:avLst/>
          </a:prstGeom>
          <a:solidFill>
            <a:srgbClr val="1B2B40"/>
          </a:solidFill>
          <a:ln w="15240">
            <a:solidFill>
              <a:srgbClr val="F4A2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325880"/>
            <a:ext cx="54864" cy="1554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65192" y="1417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Critérios Objetivos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65192" y="178308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 em infraestrutura de telecomunicações raramente seguem parâmetros claros de vulnerabilidade social e digital.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069080" cy="1554480"/>
          </a:xfrm>
          <a:prstGeom prst="rect">
            <a:avLst/>
          </a:prstGeom>
          <a:solidFill>
            <a:srgbClr val="1B2B40"/>
          </a:solidFill>
          <a:ln w="15240">
            <a:solidFill>
              <a:srgbClr val="4CA1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63240"/>
            <a:ext cx="54864" cy="155448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3154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Ineficiência de Recursos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FUST aplica R$ 2 bilhões/ano sem usar inteligência geoespacial para maximizar impacto social por real investido.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00600" y="3063240"/>
            <a:ext cx="4069080" cy="1554480"/>
          </a:xfrm>
          <a:prstGeom prst="rect">
            <a:avLst/>
          </a:prstGeom>
          <a:solidFill>
            <a:srgbClr val="1B2B40"/>
          </a:solidFill>
          <a:ln w="15240">
            <a:solidFill>
              <a:srgbClr val="2ECC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3063240"/>
            <a:ext cx="54864" cy="155448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65192" y="31546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Fragmentação de Dados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65192" y="3520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da Anatel (cobertura), IBGE (IDH/censo) e satélites (solo/densidade) permanecem dispersos — nunca integrados numa plataforma única.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 SOLUÇÃO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OrbitaConecta?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20624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4206240" cy="54864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417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Análise Geoespacial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OrbitaConecta integra imagens e sinais de satélites orbitais — Copernicus (ESA), Landsat (NASA) e dados LEO — para mapear, avaliar e priorizar ações de conectividade digital em comunidades rurais brasileiras.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164592" cy="16459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Ingestão de imagens Sentinel-2/Landsat via Google Earth Engine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64592" cy="16459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Cruzamento com dados socioeconômicos do IBGE (IDH, renda, censo)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767328"/>
            <a:ext cx="164592" cy="16459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6941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de cobertura das operadoras via Anatel (shapefile)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4151376"/>
            <a:ext cx="164592" cy="16459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0782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K-Means → Índice de Vulnerabilidade Digital (IVD)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48640" y="4535424"/>
            <a:ext cx="164592" cy="164592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4622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interativo com mapa coroplético e filtros dinâmicos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00600" y="1298448"/>
            <a:ext cx="393192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1298448"/>
            <a:ext cx="3931920" cy="5486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56048" y="14173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torna único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937760" y="1883664"/>
            <a:ext cx="146304" cy="146304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75504" y="1828800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plataforma que combina satelital + socioeconômico + telecom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37760" y="2231136"/>
            <a:ext cx="146304" cy="146304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75504" y="2176272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IVD: métrica original inexistente no Brasil ou no mundo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937760" y="2578608"/>
            <a:ext cx="146304" cy="146304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75504" y="2523744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automática a </a:t>
            </a:r>
            <a:r>
              <a:rPr lang="en-US" sz="1050" dirty="0" err="1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dias (ciclo Sentinel-2)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54880" y="3314700"/>
            <a:ext cx="39319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  <p:txBody>
          <a:bodyPr/>
          <a:lstStyle/>
          <a:p>
            <a:r>
              <a:rPr lang="pt-BR" sz="1200" b="1" dirty="0"/>
              <a:t>4 telas via </a:t>
            </a:r>
            <a:r>
              <a:rPr lang="pt-BR" sz="1200" b="1" dirty="0" err="1"/>
              <a:t>streamlit</a:t>
            </a:r>
            <a:r>
              <a:rPr lang="pt-BR" sz="1200" b="1" dirty="0"/>
              <a:t> : </a:t>
            </a:r>
          </a:p>
          <a:p>
            <a:endParaRPr lang="pt-BR" sz="1200" b="1" dirty="0"/>
          </a:p>
          <a:p>
            <a:pPr marL="285750" indent="-285750">
              <a:buFontTx/>
              <a:buChar char="-"/>
            </a:pPr>
            <a:r>
              <a:rPr lang="pt-BR" sz="1100" dirty="0"/>
              <a:t>Visão geral</a:t>
            </a:r>
          </a:p>
          <a:p>
            <a:pPr marL="285750" indent="-285750">
              <a:buFontTx/>
              <a:buChar char="-"/>
            </a:pPr>
            <a:endParaRPr lang="pt-BR" sz="1100" dirty="0"/>
          </a:p>
          <a:p>
            <a:pPr marL="285750" indent="-285750">
              <a:buFontTx/>
              <a:buChar char="-"/>
            </a:pPr>
            <a:r>
              <a:rPr lang="pt-BR" sz="1100" dirty="0"/>
              <a:t>Análise por Região</a:t>
            </a:r>
          </a:p>
          <a:p>
            <a:pPr marL="285750" indent="-285750">
              <a:buFontTx/>
              <a:buChar char="-"/>
            </a:pPr>
            <a:endParaRPr lang="pt-BR" sz="1100" dirty="0"/>
          </a:p>
          <a:p>
            <a:pPr marL="285750" indent="-285750">
              <a:buFontTx/>
              <a:buChar char="-"/>
            </a:pPr>
            <a:r>
              <a:rPr lang="pt-BR" sz="1100" dirty="0"/>
              <a:t>Segmentação e IA </a:t>
            </a:r>
          </a:p>
          <a:p>
            <a:pPr marL="285750" indent="-285750">
              <a:buFontTx/>
              <a:buChar char="-"/>
            </a:pPr>
            <a:endParaRPr lang="pt-BR" sz="1100" dirty="0"/>
          </a:p>
          <a:p>
            <a:pPr marL="285750" indent="-285750">
              <a:buFontTx/>
              <a:buChar char="-"/>
            </a:pPr>
            <a:r>
              <a:rPr lang="pt-BR" sz="1100" dirty="0"/>
              <a:t>Cenário de Intervenção</a:t>
            </a:r>
          </a:p>
        </p:txBody>
      </p:sp>
      <p:sp>
        <p:nvSpPr>
          <p:cNvPr id="30" name="Shape 28"/>
          <p:cNvSpPr/>
          <p:nvPr/>
        </p:nvSpPr>
        <p:spPr>
          <a:xfrm>
            <a:off x="4754880" y="3270286"/>
            <a:ext cx="3931920" cy="5486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56048" y="327355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956048" y="3657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56048" y="40050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56048" y="43525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5" name="Shape 25">
            <a:extLst>
              <a:ext uri="{FF2B5EF4-FFF2-40B4-BE49-F238E27FC236}">
                <a16:creationId xmlns:a16="http://schemas.microsoft.com/office/drawing/2014/main" id="{105048F1-E80A-6681-5968-847542E6C869}"/>
              </a:ext>
            </a:extLst>
          </p:cNvPr>
          <p:cNvSpPr/>
          <p:nvPr/>
        </p:nvSpPr>
        <p:spPr>
          <a:xfrm>
            <a:off x="4848933" y="3739896"/>
            <a:ext cx="146304" cy="146304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6" name="Shape 25">
            <a:extLst>
              <a:ext uri="{FF2B5EF4-FFF2-40B4-BE49-F238E27FC236}">
                <a16:creationId xmlns:a16="http://schemas.microsoft.com/office/drawing/2014/main" id="{EF4FD743-55FA-2DFF-4B77-69F949DCED47}"/>
              </a:ext>
            </a:extLst>
          </p:cNvPr>
          <p:cNvSpPr/>
          <p:nvPr/>
        </p:nvSpPr>
        <p:spPr>
          <a:xfrm>
            <a:off x="4864608" y="4076265"/>
            <a:ext cx="146304" cy="146304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7" name="Shape 25">
            <a:extLst>
              <a:ext uri="{FF2B5EF4-FFF2-40B4-BE49-F238E27FC236}">
                <a16:creationId xmlns:a16="http://schemas.microsoft.com/office/drawing/2014/main" id="{A1AA4D28-1B29-21A5-2BF6-1D8A0755DA23}"/>
              </a:ext>
            </a:extLst>
          </p:cNvPr>
          <p:cNvSpPr/>
          <p:nvPr/>
        </p:nvSpPr>
        <p:spPr>
          <a:xfrm>
            <a:off x="4855464" y="4403489"/>
            <a:ext cx="146304" cy="146304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38" name="Shape 25">
            <a:extLst>
              <a:ext uri="{FF2B5EF4-FFF2-40B4-BE49-F238E27FC236}">
                <a16:creationId xmlns:a16="http://schemas.microsoft.com/office/drawing/2014/main" id="{733541EC-CB74-2A31-1E19-C132BEE8C900}"/>
              </a:ext>
            </a:extLst>
          </p:cNvPr>
          <p:cNvSpPr/>
          <p:nvPr/>
        </p:nvSpPr>
        <p:spPr>
          <a:xfrm>
            <a:off x="4848933" y="4720917"/>
            <a:ext cx="146304" cy="146304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 SOLUÇÃO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44582" y="717804"/>
            <a:ext cx="7987937" cy="3794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66928" y="182880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804672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04672" y="331012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04672" y="36941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04672" y="407822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956048" y="1417320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175504" y="1828800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175504" y="2176272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175504" y="2523744"/>
            <a:ext cx="34015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956048" y="365760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956048" y="4005072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956048" y="4352544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50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81E89BBF-5AAF-7EBF-E4B2-C6007188A8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365" y="595667"/>
            <a:ext cx="3856512" cy="1907177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38" name="Imagem 37">
            <a:extLst>
              <a:ext uri="{FF2B5EF4-FFF2-40B4-BE49-F238E27FC236}">
                <a16:creationId xmlns:a16="http://schemas.microsoft.com/office/drawing/2014/main" id="{4342BAE5-9C9E-5C50-911D-A26722F6F0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4350" y="595668"/>
            <a:ext cx="4595058" cy="1913422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0" name="Imagem 39">
            <a:extLst>
              <a:ext uri="{FF2B5EF4-FFF2-40B4-BE49-F238E27FC236}">
                <a16:creationId xmlns:a16="http://schemas.microsoft.com/office/drawing/2014/main" id="{AA7EEF7D-1C28-97CD-E299-6B91FC8793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0896" y="2603797"/>
            <a:ext cx="3849981" cy="1976761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42" name="Imagem 41">
            <a:extLst>
              <a:ext uri="{FF2B5EF4-FFF2-40B4-BE49-F238E27FC236}">
                <a16:creationId xmlns:a16="http://schemas.microsoft.com/office/drawing/2014/main" id="{0AC09D9A-9C67-7A7C-E5F7-C9E369AFA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4350" y="2586445"/>
            <a:ext cx="4577226" cy="2028882"/>
          </a:xfrm>
          <a:prstGeom prst="rect">
            <a:avLst/>
          </a:prstGeom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43" name="CaixaDeTexto 42">
            <a:extLst>
              <a:ext uri="{FF2B5EF4-FFF2-40B4-BE49-F238E27FC236}">
                <a16:creationId xmlns:a16="http://schemas.microsoft.com/office/drawing/2014/main" id="{4CAC80DC-B518-F43A-9CB8-6C8E99F8BB03}"/>
              </a:ext>
            </a:extLst>
          </p:cNvPr>
          <p:cNvSpPr txBox="1"/>
          <p:nvPr/>
        </p:nvSpPr>
        <p:spPr>
          <a:xfrm>
            <a:off x="1933303" y="4865479"/>
            <a:ext cx="72811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dirty="0"/>
              <a:t>Click para acessar : https://orbitaconectadashboardpy-5i62xsytkq8vn6qpnpssjf.streamlit.app/</a:t>
            </a:r>
          </a:p>
        </p:txBody>
      </p:sp>
    </p:spTree>
    <p:extLst>
      <p:ext uri="{BB962C8B-B14F-4D97-AF65-F5344CB8AC3E}">
        <p14:creationId xmlns:p14="http://schemas.microsoft.com/office/powerpoint/2010/main" val="39611865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4CA1DE">
              <a:alpha val="12000"/>
            </a:srgbClr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OBJETIVOS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do Projeto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2788920" cy="3520440"/>
          </a:xfrm>
          <a:prstGeom prst="rect">
            <a:avLst/>
          </a:prstGeom>
          <a:solidFill>
            <a:srgbClr val="1B2B40"/>
          </a:solidFill>
          <a:ln w="19050">
            <a:solidFill>
              <a:srgbClr val="4CA1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2788920" cy="64008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3898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874520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de até 80% nos custos de levantamento de campo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Otimização do FUST: até 3× mais impacto por real investido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Inteligência de mercado para ISPs regionais sobre demanda reprimida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10128" y="1261872"/>
            <a:ext cx="2788920" cy="3520440"/>
          </a:xfrm>
          <a:prstGeom prst="rect">
            <a:avLst/>
          </a:prstGeom>
          <a:solidFill>
            <a:srgbClr val="1B2B40"/>
          </a:solidFill>
          <a:ln w="19050">
            <a:solidFill>
              <a:srgbClr val="2ECC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10128" y="1261872"/>
            <a:ext cx="2788920" cy="64008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13898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Sociais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874520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Inclusão digital de 41 milhões de brasileiros vulneráveis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 telemedicina, EaD, gov.br, INSS digital e comércio rural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 desigualdade digital Norte e Nordeste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54496" y="1261872"/>
            <a:ext cx="2788920" cy="3520440"/>
          </a:xfrm>
          <a:prstGeom prst="rect">
            <a:avLst/>
          </a:prstGeom>
          <a:solidFill>
            <a:srgbClr val="1B2B40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54496" y="1261872"/>
            <a:ext cx="278892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19088" y="138988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Operacionais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19088" y="1874520"/>
            <a:ext cx="2487168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público e transparente para gestores municipais e federais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Atualização automática via satélite Sentinel-2 (ciclo de ~5 dias)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Eliminação de dependência de consultorias externas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METODOLOGIA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Dados &amp; IA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384048" y="1325880"/>
            <a:ext cx="20299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93776" y="1435608"/>
            <a:ext cx="475488" cy="475488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93776" y="198424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de Dados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" y="246888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via Google Earth Engine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Anatel (shapefile cobertura 4G)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 SIDRA (IDH, renda, censo)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414016" y="2990088"/>
            <a:ext cx="155448" cy="2743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78608" y="1325880"/>
            <a:ext cx="20299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88336" y="1435608"/>
            <a:ext cx="475488" cy="475488"/>
          </a:xfrm>
          <a:prstGeom prst="ellipse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8833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688336" y="198424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Processamento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88336" y="246888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GeoPandas + Rasterio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de shapefiles geoespaciais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Limpeza e normalização (Pandas/NumPy)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08576" y="2990088"/>
            <a:ext cx="155448" cy="2743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73168" y="1325880"/>
            <a:ext cx="20299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82896" y="1435608"/>
            <a:ext cx="475488" cy="475488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20" name="Text 18"/>
          <p:cNvSpPr/>
          <p:nvPr/>
        </p:nvSpPr>
        <p:spPr>
          <a:xfrm>
            <a:off x="488289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882896" y="198424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Modelagem com IA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82896" y="246888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(Scikit-learn)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Cálculo NDVI (Sentinel-2/ESA)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IVD ponderado por município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03136" y="2990088"/>
            <a:ext cx="155448" cy="2743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67728" y="1325880"/>
            <a:ext cx="2029968" cy="336499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635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77456" y="1435608"/>
            <a:ext cx="475488" cy="475488"/>
          </a:xfrm>
          <a:prstGeom prst="ellipse">
            <a:avLst/>
          </a:prstGeom>
          <a:solidFill>
            <a:srgbClr val="B48EF5"/>
          </a:solidFill>
          <a:ln w="12700">
            <a:solidFill>
              <a:srgbClr val="B48E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77456" y="14356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077456" y="198424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Visualização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77456" y="2468880"/>
            <a:ext cx="1828800" cy="2057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Streamlit interativo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coroplético Folium/Plotly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de intervenção comparativa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828032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FA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 em Python: Coleta → Processamento → Modelagem IA → Visualização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3474720"/>
            <a:ext cx="2286000" cy="2286000"/>
          </a:xfrm>
          <a:prstGeom prst="ellipse">
            <a:avLst/>
          </a:prstGeom>
          <a:solidFill>
            <a:srgbClr val="2ECC9A">
              <a:alpha val="15000"/>
            </a:srgbClr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RESULTADOS ESPERADOS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 Projetados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8412480" cy="1051560"/>
          </a:xfrm>
          <a:prstGeom prst="rect">
            <a:avLst/>
          </a:prstGeom>
          <a:solidFill>
            <a:srgbClr val="1B2B40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54864" cy="1051560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53312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965960" y="135331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Redução de 80% nos custos de mapeamento via satélite remoto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251960" y="135331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Até 3× mais impacto por real do FUST com priorização por IVD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537960" y="1353312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Projetos de expansão mais atrativos para ISPs regionais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2505456"/>
            <a:ext cx="8412480" cy="1051560"/>
          </a:xfrm>
          <a:prstGeom prst="rect">
            <a:avLst/>
          </a:prstGeom>
          <a:solidFill>
            <a:srgbClr val="1B2B40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05456"/>
            <a:ext cx="54864" cy="1051560"/>
          </a:xfrm>
          <a:prstGeom prst="rect">
            <a:avLst/>
          </a:prstGeom>
          <a:solidFill>
            <a:srgbClr val="2ECC9A"/>
          </a:solidFill>
          <a:ln w="12700">
            <a:solidFill>
              <a:srgbClr val="2ECC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56032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C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96596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Inclusão digital de populações quilombolas, indígenas e agricultores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5196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Acesso a telemedicina, EaD, gov.br, INSS digital e e-commerce rural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3796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Redução da desigualdade digital entre regiões do Brasil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712464"/>
            <a:ext cx="8412480" cy="1051560"/>
          </a:xfrm>
          <a:prstGeom prst="rect">
            <a:avLst/>
          </a:prstGeom>
          <a:solidFill>
            <a:srgbClr val="1B2B4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712464"/>
            <a:ext cx="54864" cy="10515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76732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Operacionais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965960" y="3767328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Dashboard público consultável por gestores sem depender de consultorias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251960" y="3767328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Dados atualizados automaticamente a </a:t>
            </a:r>
            <a:r>
              <a:rPr lang="en-US" sz="1000" dirty="0" err="1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</a:t>
            </a: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 dias (Sentinel-2)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537960" y="3767328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Escalável para outros estados e países da América Latina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54864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D471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CONCLUSÃO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 &amp; Potencial de Expansão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11480" y="1298448"/>
            <a:ext cx="402336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11480" y="1298448"/>
            <a:ext cx="402336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4081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Relevância Acadêmica e Prática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1929384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" y="186537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 integrando Estatística, ML, Python, Visualização e Storytelling.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587752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523744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 reais e públicos (IBGE, Anatel, ESA Copernicus) aplicados a problema social genuíno.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" y="3182112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IVD como contribuição metodológica original inexistente no mercado.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904488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3840480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 com ODS 9 (infraestrutura) e ODS 10 (redução de desigualdades) da ONU.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1298448"/>
            <a:ext cx="4023360" cy="3493008"/>
          </a:xfrm>
          <a:prstGeom prst="rect">
            <a:avLst/>
          </a:prstGeom>
          <a:solidFill>
            <a:srgbClr val="FFFFFF"/>
          </a:solidFill>
          <a:ln w="12700">
            <a:solidFill>
              <a:srgbClr val="C8DAEC"/>
            </a:solidFill>
            <a:prstDash val="solid"/>
          </a:ln>
          <a:effectLst>
            <a:outerShdw blurRad="50800" dist="12700" dir="81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1298448"/>
            <a:ext cx="4023360" cy="5486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140817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Expansão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846320" y="1929384"/>
            <a:ext cx="164592" cy="164592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102352" y="1865376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com API em tempo real da ESA para atualização contínua do IVD.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2587752"/>
            <a:ext cx="164592" cy="164592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102352" y="2523744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para outros países da América Latina com desigualdade digital similar.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46320" y="3246120"/>
            <a:ext cx="164592" cy="164592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3182112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com Anatel, MComun e BNDES para implantação em escala nacional.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0" y="3904488"/>
            <a:ext cx="164592" cy="164592"/>
          </a:xfrm>
          <a:prstGeom prst="ellipse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02352" y="3840480"/>
            <a:ext cx="34930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mobile para gestores em campo com acesso offline em áreas remotas.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4CA1DE">
              <a:alpha val="10000"/>
            </a:srgbClr>
          </a:solidFill>
          <a:ln w="10160">
            <a:solidFill>
              <a:srgbClr val="4CA1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REFERÊNCIAS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Fontes Utilizadas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53312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53312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IBGE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82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Censo Demográfico 2022  ·  ibge.gov.br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194560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194560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231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2523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 Dados Abertos de Telecomunicações 2024  ·  sistemas.anatel.gov.br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035808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35808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ESA Copernicus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Sentinel-2 Mission Guide  ·  sentinel.esa.int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877056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877056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3913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CETIC.br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 Domicílios 2023  ·  cetic.br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353312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1353312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1389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Brasil / PNUD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83480" y="168249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Desenvolvimento Humano Municipal  ·  atlasbrasil.org.br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194560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46320" y="2194560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83480" y="22311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83480" y="252374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Documentation  ·  developers.google.com/earth-engine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46320" y="3035808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46320" y="3035808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0723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83480" y="33649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Documentation  ·  scikit-learn.org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46320" y="3877056"/>
            <a:ext cx="4133088" cy="694944"/>
          </a:xfrm>
          <a:prstGeom prst="rect">
            <a:avLst/>
          </a:prstGeom>
          <a:solidFill>
            <a:srgbClr val="1B2B40"/>
          </a:solidFill>
          <a:ln w="6350">
            <a:solidFill>
              <a:srgbClr val="4CA1DE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846320" y="3877056"/>
            <a:ext cx="45720" cy="694944"/>
          </a:xfrm>
          <a:prstGeom prst="rect">
            <a:avLst/>
          </a:prstGeom>
          <a:solidFill>
            <a:srgbClr val="4CA1DE"/>
          </a:solidFill>
          <a:ln w="12700">
            <a:solidFill>
              <a:srgbClr val="4CA1D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83480" y="39136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Ministério das Comunicações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83480" y="42062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Conect, FUST 2024  ·  gov.br/mcom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4CA1DE">
              <a:alpha val="10000"/>
            </a:srgbClr>
          </a:solidFill>
          <a:ln w="10160">
            <a:solidFill>
              <a:srgbClr val="4CA1D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56032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6000" b="1" kern="0" spc="200" dirty="0">
              <a:solidFill>
                <a:srgbClr val="4CA1D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6000" b="1" kern="0" spc="200" dirty="0">
              <a:solidFill>
                <a:srgbClr val="4CA1D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6000" b="1" kern="0" spc="200" dirty="0">
              <a:solidFill>
                <a:srgbClr val="4CA1D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6000" b="1" kern="0" spc="200" dirty="0">
              <a:solidFill>
                <a:srgbClr val="4CA1D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6000" b="1" kern="0" spc="200" dirty="0">
                <a:solidFill>
                  <a:srgbClr val="4CA1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OBRIGADO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000" dirty="0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45C75CF5-1358-D899-8E95-96EAF4DA1D76}"/>
              </a:ext>
            </a:extLst>
          </p:cNvPr>
          <p:cNvSpPr txBox="1"/>
          <p:nvPr/>
        </p:nvSpPr>
        <p:spPr>
          <a:xfrm>
            <a:off x="313509" y="3611880"/>
            <a:ext cx="597625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</a:rPr>
              <a:t>LINK DO PROJETO : https://github.com/jessystem/GS2026-ORBITACONECTA</a:t>
            </a:r>
          </a:p>
        </p:txBody>
      </p:sp>
    </p:spTree>
    <p:extLst>
      <p:ext uri="{BB962C8B-B14F-4D97-AF65-F5344CB8AC3E}">
        <p14:creationId xmlns:p14="http://schemas.microsoft.com/office/powerpoint/2010/main" val="2985287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977</Words>
  <Application>Microsoft Office PowerPoint</Application>
  <PresentationFormat>Apresentação na tela (16:9)</PresentationFormat>
  <Paragraphs>162</Paragraphs>
  <Slides>11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OrbitaConecta – Inclusão Digital com IA e Dados Satelitais</dc:title>
  <dc:subject>PptxGenJS Presentation</dc:subject>
  <dc:creator>PptxGenJS</dc:creator>
  <cp:lastModifiedBy>Jéssica Gambôa Cavalcante</cp:lastModifiedBy>
  <cp:revision>4</cp:revision>
  <dcterms:created xsi:type="dcterms:W3CDTF">2026-06-03T12:55:12Z</dcterms:created>
  <dcterms:modified xsi:type="dcterms:W3CDTF">2026-06-03T13:59:30Z</dcterms:modified>
</cp:coreProperties>
</file>