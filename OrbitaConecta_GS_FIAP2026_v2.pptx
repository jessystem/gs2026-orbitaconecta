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02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1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4CA1DE">
              <a:alpha val="18000"/>
            </a:srgbClr>
          </a:solidFill>
          <a:ln w="19050">
            <a:solidFill>
              <a:srgbClr val="4CA1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82880"/>
            <a:ext cx="1463040" cy="1463040"/>
          </a:xfrm>
          <a:prstGeom prst="ellipse">
            <a:avLst/>
          </a:prstGeom>
          <a:solidFill>
            <a:srgbClr val="2ECC9A">
              <a:alpha val="30000"/>
            </a:srgbClr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· GS · FIAP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OrbitaConecta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Digital com Inteligência Artificial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Dados Satelitais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8046720" cy="13716"/>
          </a:xfrm>
          <a:prstGeom prst="rect">
            <a:avLst/>
          </a:prstGeom>
          <a:solidFill>
            <a:srgbClr val="4CA1DE">
              <a:alpha val="50000"/>
            </a:srgbClr>
          </a:solidFill>
          <a:ln w="1270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005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  ·  ___________________________  ·  ___________________________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Data Science  ·  Global Solution  ·  FIAP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3666744"/>
            <a:ext cx="822960" cy="347472"/>
          </a:xfrm>
          <a:prstGeom prst="ellipse">
            <a:avLst/>
          </a:prstGeom>
          <a:solidFill>
            <a:srgbClr val="4CA1DE">
              <a:alpha val="0"/>
            </a:srgbClr>
          </a:solidFill>
          <a:ln w="10160">
            <a:solidFill>
              <a:srgbClr val="4CA1DE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07224" y="3730752"/>
            <a:ext cx="530352" cy="219456"/>
          </a:xfrm>
          <a:prstGeom prst="ellipse">
            <a:avLst/>
          </a:prstGeom>
          <a:solidFill>
            <a:srgbClr val="4CA1DE">
              <a:alpha val="0"/>
            </a:srgbClr>
          </a:solidFill>
          <a:ln w="10160">
            <a:solidFill>
              <a:srgbClr val="4CA1DE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44384" y="3785616"/>
            <a:ext cx="256032" cy="109728"/>
          </a:xfrm>
          <a:prstGeom prst="ellipse">
            <a:avLst/>
          </a:prstGeom>
          <a:solidFill>
            <a:srgbClr val="4CA1DE">
              <a:alpha val="0"/>
            </a:srgbClr>
          </a:solidFill>
          <a:ln w="10160">
            <a:solidFill>
              <a:srgbClr val="4CA1DE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3785616"/>
            <a:ext cx="91440" cy="91440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INTRODUÇÃO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da Exclusão Digital no Brasil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64008" cy="96012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3716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76072" y="1773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brasileiros sem internet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2029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 Domicílios 2023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25880"/>
            <a:ext cx="64008" cy="96012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3716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02152" y="1773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sem 4G adequado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02152" y="2029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Anatel 2024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1325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325880"/>
            <a:ext cx="64008" cy="96012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3716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 bi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28232" y="1773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FUST sem priorização/ano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28232" y="2029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MCOM 2024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4871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da Exclusão Digital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288036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880360"/>
            <a:ext cx="2029968" cy="5486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29718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" y="3310128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sem EaD, portais MEC e ferramentas digitais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06040" y="288036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06040" y="2880360"/>
            <a:ext cx="2029968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5768" y="29718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15768" y="3310128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e apps do SUS inacessíveis em regiões remotas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288036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880360"/>
            <a:ext cx="202996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29718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3310128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Agricultores sem acesso a mercados, Pronaf e comércio digital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95160" y="288036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2880360"/>
            <a:ext cx="2029968" cy="54864"/>
          </a:xfrm>
          <a:prstGeom prst="rect">
            <a:avLst/>
          </a:prstGeom>
          <a:solidFill>
            <a:srgbClr val="B48EF5"/>
          </a:solidFill>
          <a:ln w="12700">
            <a:solidFill>
              <a:srgbClr val="B48E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04888" y="29718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Cidadania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04888" y="3310128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gov.br, INSS digital e vacinação eletrônica fora do alcance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TIC Domicílios 2023 · Anatel 2024 · MCOM 2024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E05C5C">
              <a:alpha val="12000"/>
            </a:srgbClr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 PROBLEMA CENTRAL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Conectividade Rural Falha?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69080" cy="1554480"/>
          </a:xfrm>
          <a:prstGeom prst="rect">
            <a:avLst/>
          </a:prstGeom>
          <a:solidFill>
            <a:srgbClr val="1B2B40"/>
          </a:solidFill>
          <a:ln w="15240">
            <a:solidFill>
              <a:srgbClr val="E05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15544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17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 Geográfica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7830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rurais ocupam mais de 85% do território nacional. O mapeamento manual de necessidades é lento, caro e ineficiente.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069080" cy="1554480"/>
          </a:xfrm>
          <a:prstGeom prst="rect">
            <a:avLst/>
          </a:prstGeom>
          <a:solidFill>
            <a:srgbClr val="1B2B4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54864" cy="1554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417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Critérios Objetivos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7830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 em infraestrutura de telecomunicações raramente seguem parâmetros claros de vulnerabilidade social e digital.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069080" cy="1554480"/>
          </a:xfrm>
          <a:prstGeom prst="rect">
            <a:avLst/>
          </a:prstGeom>
          <a:solidFill>
            <a:srgbClr val="1B2B40"/>
          </a:solidFill>
          <a:ln w="15240">
            <a:solidFill>
              <a:srgbClr val="4CA1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63240"/>
            <a:ext cx="54864" cy="155448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54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Ineficiência de Recursos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FUST aplica R$ 2 bilhões/ano sem usar inteligência geoespacial para maximizar impacto social por real investido.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063240"/>
            <a:ext cx="4069080" cy="1554480"/>
          </a:xfrm>
          <a:prstGeom prst="rect">
            <a:avLst/>
          </a:prstGeom>
          <a:solidFill>
            <a:srgbClr val="1B2B40"/>
          </a:solidFill>
          <a:ln w="15240">
            <a:solidFill>
              <a:srgbClr val="2ECC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63240"/>
            <a:ext cx="54864" cy="155448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154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de Dados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Anatel (cobertura), IBGE (IDH/censo) e satélites (solo/densidade) permanecem dispersos — nunca integrados numa plataforma única.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 SOLUÇÃO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OrbitaConecta?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4206240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Análise Geoespacial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OrbitaConecta integra imagens e sinais de satélites orbitais — Copernicus (ESA), Landsat (NASA) e dados LEO — para mapear, avaliar e priorizar ações de conectividade digital em comunidades rurais brasileiras.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de imagens Sentinel-2/Landsat via Google Earth Engine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com dados socioeconômicos do IBGE (IDH, renda, censo)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94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cobertura das operadoras via Anatel (shapefile)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78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K-Means → Índice de Vulnerabilidade Digital (IVD)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535424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462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interativo com mapa coroplético e filtros dinâmicos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1298448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298448"/>
            <a:ext cx="3931920" cy="5486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4173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torna único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1883664"/>
            <a:ext cx="146304" cy="146304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5504" y="182880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plataforma que combina satelital + socioeconômico + telecom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2231136"/>
            <a:ext cx="146304" cy="146304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217627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IVD: métrica original inexistente no Brasil ou no mundo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578608"/>
            <a:ext cx="146304" cy="146304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2523744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automática a </a:t>
            </a:r>
            <a:r>
              <a:rPr lang="en-US" sz="1050" dirty="0" err="1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dias (ciclo Sentinel-2)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31470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r>
              <a:rPr lang="pt-BR" sz="1200" b="1" dirty="0"/>
              <a:t>4 telas via </a:t>
            </a:r>
            <a:r>
              <a:rPr lang="pt-BR" sz="1200" b="1" dirty="0" err="1"/>
              <a:t>streamlit</a:t>
            </a:r>
            <a:r>
              <a:rPr lang="pt-BR" sz="1200" b="1" dirty="0"/>
              <a:t> : </a:t>
            </a:r>
          </a:p>
          <a:p>
            <a:endParaRPr lang="pt-BR" sz="1200" b="1" dirty="0"/>
          </a:p>
          <a:p>
            <a:pPr marL="285750" indent="-285750">
              <a:buFontTx/>
              <a:buChar char="-"/>
            </a:pPr>
            <a:r>
              <a:rPr lang="pt-BR" sz="1100" dirty="0"/>
              <a:t>Visão geral</a:t>
            </a:r>
          </a:p>
          <a:p>
            <a:pPr marL="285750" indent="-285750">
              <a:buFontTx/>
              <a:buChar char="-"/>
            </a:pPr>
            <a:endParaRPr lang="pt-BR" sz="1100" dirty="0"/>
          </a:p>
          <a:p>
            <a:pPr marL="285750" indent="-285750">
              <a:buFontTx/>
              <a:buChar char="-"/>
            </a:pPr>
            <a:r>
              <a:rPr lang="pt-BR" sz="1100" dirty="0"/>
              <a:t>Análise por Região</a:t>
            </a:r>
          </a:p>
          <a:p>
            <a:pPr marL="285750" indent="-285750">
              <a:buFontTx/>
              <a:buChar char="-"/>
            </a:pPr>
            <a:endParaRPr lang="pt-BR" sz="1100" dirty="0"/>
          </a:p>
          <a:p>
            <a:pPr marL="285750" indent="-285750">
              <a:buFontTx/>
              <a:buChar char="-"/>
            </a:pPr>
            <a:r>
              <a:rPr lang="pt-BR" sz="1100" dirty="0"/>
              <a:t>Segmentação e IA </a:t>
            </a:r>
          </a:p>
          <a:p>
            <a:pPr marL="285750" indent="-285750">
              <a:buFontTx/>
              <a:buChar char="-"/>
            </a:pPr>
            <a:endParaRPr lang="pt-BR" sz="1100" dirty="0"/>
          </a:p>
          <a:p>
            <a:pPr marL="285750" indent="-285750">
              <a:buFontTx/>
              <a:buChar char="-"/>
            </a:pPr>
            <a:r>
              <a:rPr lang="pt-BR" sz="1100" dirty="0"/>
              <a:t>Cenário de Intervenção</a:t>
            </a:r>
          </a:p>
        </p:txBody>
      </p:sp>
      <p:sp>
        <p:nvSpPr>
          <p:cNvPr id="30" name="Shape 28"/>
          <p:cNvSpPr/>
          <p:nvPr/>
        </p:nvSpPr>
        <p:spPr>
          <a:xfrm>
            <a:off x="4754880" y="3270286"/>
            <a:ext cx="393192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2735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56048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40050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43525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105048F1-E80A-6681-5968-847542E6C869}"/>
              </a:ext>
            </a:extLst>
          </p:cNvPr>
          <p:cNvSpPr/>
          <p:nvPr/>
        </p:nvSpPr>
        <p:spPr>
          <a:xfrm>
            <a:off x="4848933" y="3739896"/>
            <a:ext cx="146304" cy="14630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EF4FD743-55FA-2DFF-4B77-69F949DCED47}"/>
              </a:ext>
            </a:extLst>
          </p:cNvPr>
          <p:cNvSpPr/>
          <p:nvPr/>
        </p:nvSpPr>
        <p:spPr>
          <a:xfrm>
            <a:off x="4864608" y="4076265"/>
            <a:ext cx="146304" cy="14630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A1AA4D28-1B29-21A5-2BF6-1D8A0755DA23}"/>
              </a:ext>
            </a:extLst>
          </p:cNvPr>
          <p:cNvSpPr/>
          <p:nvPr/>
        </p:nvSpPr>
        <p:spPr>
          <a:xfrm>
            <a:off x="4855464" y="4403489"/>
            <a:ext cx="146304" cy="14630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733541EC-CB74-2A31-1E19-C132BEE8C900}"/>
              </a:ext>
            </a:extLst>
          </p:cNvPr>
          <p:cNvSpPr/>
          <p:nvPr/>
        </p:nvSpPr>
        <p:spPr>
          <a:xfrm>
            <a:off x="4848933" y="4720917"/>
            <a:ext cx="146304" cy="14630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 SOLUÇÃO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4582" y="717804"/>
            <a:ext cx="7987937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3694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" y="4078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6048" y="14173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75504" y="182880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75504" y="217627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75504" y="2523744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56048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40050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43525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81E89BBF-5AAF-7EBF-E4B2-C6007188A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65" y="595667"/>
            <a:ext cx="3856512" cy="190717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4342BAE5-9C9E-5C50-911D-A26722F6F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350" y="595668"/>
            <a:ext cx="4595058" cy="191342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AA7EEF7D-1C28-97CD-E299-6B91FC879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2603797"/>
            <a:ext cx="3849981" cy="197676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0AC09D9A-9C67-7A7C-E5F7-C9E369AFA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4350" y="2586445"/>
            <a:ext cx="4577226" cy="202888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4CAC80DC-B518-F43A-9CB8-6C8E99F8BB03}"/>
              </a:ext>
            </a:extLst>
          </p:cNvPr>
          <p:cNvSpPr txBox="1"/>
          <p:nvPr/>
        </p:nvSpPr>
        <p:spPr>
          <a:xfrm>
            <a:off x="1933303" y="4865479"/>
            <a:ext cx="7281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Click para acessar : https://orbitaconectadashboardpy-5i62xsytkq8vn6qpnpssjf.streamlit.app/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396118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4CA1DE">
              <a:alpha val="12000"/>
            </a:srgbClr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OBJETIVOS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do Projeto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788920" cy="3520440"/>
          </a:xfrm>
          <a:prstGeom prst="rect">
            <a:avLst/>
          </a:prstGeom>
          <a:solidFill>
            <a:srgbClr val="1B2B40"/>
          </a:solidFill>
          <a:ln w="19050">
            <a:solidFill>
              <a:srgbClr val="4CA1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2788920" cy="64008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898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874520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até 80% nos custos de levantamento de campo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do FUST: até 3× mais impacto por real investido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mercado para ISPs regionais sobre demanda reprimida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261872"/>
            <a:ext cx="2788920" cy="3520440"/>
          </a:xfrm>
          <a:prstGeom prst="rect">
            <a:avLst/>
          </a:prstGeom>
          <a:solidFill>
            <a:srgbClr val="1B2B40"/>
          </a:solidFill>
          <a:ln w="19050">
            <a:solidFill>
              <a:srgbClr val="2ECC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261872"/>
            <a:ext cx="2788920" cy="6400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898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digital de 41 milhões de brasileiros vulneráveis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telemedicina, EaD, gov.br, INSS digital e comércio rural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 desigualdade digital Norte e Nordeste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4496" y="1261872"/>
            <a:ext cx="2788920" cy="3520440"/>
          </a:xfrm>
          <a:prstGeom prst="rect">
            <a:avLst/>
          </a:prstGeom>
          <a:solidFill>
            <a:srgbClr val="1B2B4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1261872"/>
            <a:ext cx="278892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3898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1874520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público e transparente para gestores municipais e federais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automática via satélite Sentinel-2 (ciclo de ~5 dias)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de dependência de consultorias externas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METODOLOGIA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&amp; IA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325880"/>
            <a:ext cx="20299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435608"/>
            <a:ext cx="475488" cy="475488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3776" y="198424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Dados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" y="246888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via Google Earth Engine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Anatel (shapefile cobertura 4G)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SIDRA (IDH, renda, censo)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14016" y="2990088"/>
            <a:ext cx="155448" cy="274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8608" y="1325880"/>
            <a:ext cx="20299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88336" y="1435608"/>
            <a:ext cx="475488" cy="475488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88336" y="198424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88336" y="246888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+ Rasterio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shapefiles geoespaciais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normalização (Pandas/NumPy)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08576" y="2990088"/>
            <a:ext cx="155448" cy="274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1325880"/>
            <a:ext cx="20299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82896" y="1435608"/>
            <a:ext cx="475488" cy="47548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/>
          <p:nvPr/>
        </p:nvSpPr>
        <p:spPr>
          <a:xfrm>
            <a:off x="488289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82896" y="198424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com 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82896" y="246888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(Scikit-learn)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NDVI (Sentinel-2/ESA)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IVD ponderado por município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03136" y="2990088"/>
            <a:ext cx="155448" cy="274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7728" y="1325880"/>
            <a:ext cx="20299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77456" y="1435608"/>
            <a:ext cx="475488" cy="475488"/>
          </a:xfrm>
          <a:prstGeom prst="ellipse">
            <a:avLst/>
          </a:prstGeom>
          <a:solidFill>
            <a:srgbClr val="B48EF5"/>
          </a:solidFill>
          <a:ln w="12700">
            <a:solidFill>
              <a:srgbClr val="B48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745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77456" y="198424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77456" y="246888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interativo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Folium/Plotly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de intervenção comparativa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 em Python: Coleta → Processamento → Modelagem IA → Visualização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474720"/>
            <a:ext cx="2286000" cy="2286000"/>
          </a:xfrm>
          <a:prstGeom prst="ellipse">
            <a:avLst/>
          </a:prstGeom>
          <a:solidFill>
            <a:srgbClr val="2ECC9A">
              <a:alpha val="15000"/>
            </a:srgbClr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RESULTADOS ESPERADOS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Projetados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412480" cy="1051560"/>
          </a:xfrm>
          <a:prstGeom prst="rect">
            <a:avLst/>
          </a:prstGeom>
          <a:solidFill>
            <a:srgbClr val="1B2B40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54864" cy="105156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35331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Redução de 80% nos custos de mapeamento via satélite remoto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35331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Até 3× mais impacto por real do FUST com priorização por IVD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135331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Projetos de expansão mais atrativos para ISPs regionais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8412480" cy="1051560"/>
          </a:xfrm>
          <a:prstGeom prst="rect">
            <a:avLst/>
          </a:prstGeom>
          <a:solidFill>
            <a:srgbClr val="1B2B40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05456"/>
            <a:ext cx="54864" cy="105156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0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Inclusão digital de populações quilombolas, indígenas e agricultores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Acesso a telemedicina, EaD, gov.br, INSS digital e e-commerce rural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Redução da desigualdade digital entre regiões do Brasil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8412480" cy="1051560"/>
          </a:xfrm>
          <a:prstGeom prst="rect">
            <a:avLst/>
          </a:prstGeom>
          <a:solidFill>
            <a:srgbClr val="1B2B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12464"/>
            <a:ext cx="54864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673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376732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Dashboard público consultável por gestores sem depender de consultorias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1960" y="376732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Dados atualizados automaticamente a </a:t>
            </a:r>
            <a:r>
              <a:rPr lang="en-US" sz="1000" dirty="0" err="1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dias (Sentinel-2)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76732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Escalável para outros estados e países da América Latina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7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CONCLUSÃO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&amp; Potencial de Expansão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02336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40233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081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Acadêmica e Prática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9384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86537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 integrando Estatística, ML, Python, Visualização e Storytelling.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523744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e públicos (IBGE, Anatel, ESA Copernicus) aplicados a problema social genuíno.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182112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IVD como contribuição metodológica original inexistente no mercado.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04488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840480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com ODS 9 (infraestrutura) e ODS 10 (redução de desigualdades) da ONU.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298448"/>
            <a:ext cx="402336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298448"/>
            <a:ext cx="4023360" cy="5486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4081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Expansão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9384"/>
            <a:ext cx="164592" cy="164592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86537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API em tempo real da ESA para atualização contínua do IVD.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587752"/>
            <a:ext cx="164592" cy="164592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523744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outros países da América Latina com desigualdade digital similar.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246120"/>
            <a:ext cx="164592" cy="164592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3182112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com Anatel, MComun e BNDES para implantação em escala nacional.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904488"/>
            <a:ext cx="164592" cy="164592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3840480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mobile para gestores em campo com acesso offline em áreas remotas.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4CA1DE">
              <a:alpha val="10000"/>
            </a:srgbClr>
          </a:solidFill>
          <a:ln w="10160">
            <a:solidFill>
              <a:srgbClr val="4CA1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REFERÊNCIAS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Utilizadas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Demográfico 2022  ·  ibge.gov.br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94560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31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523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Dados Abertos de Telecomunicações 2024  ·  sistemas.anatel.gov.br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35808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Copernicus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Mission Guide  ·  sentinel.esa.int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77056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13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CETIC.br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 Domicílios 2023  ·  cetic.br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353312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353312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Brasil / PNUD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Desenvolvimento Humano Municipal  ·  atlasbrasil.org.br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194560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194560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231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523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Documentation  ·  developers.google.com/earth-engine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035808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035808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Documentation  ·  scikit-learn.org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877056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877056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913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das Comunicações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Conect, FUST 2024  ·  gov.br/mcom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950</Words>
  <Application>Microsoft Office PowerPoint</Application>
  <PresentationFormat>Apresentação na tela (16:9)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OrbitaConecta – Inclusão Digital com IA e Dados Satelitais</dc:title>
  <dc:subject>PptxGenJS Presentation</dc:subject>
  <dc:creator>PptxGenJS</dc:creator>
  <cp:lastModifiedBy>Jéssica Gambôa Cavalcante</cp:lastModifiedBy>
  <cp:revision>2</cp:revision>
  <dcterms:created xsi:type="dcterms:W3CDTF">2026-06-03T12:55:12Z</dcterms:created>
  <dcterms:modified xsi:type="dcterms:W3CDTF">2026-06-03T13:15:54Z</dcterms:modified>
</cp:coreProperties>
</file>